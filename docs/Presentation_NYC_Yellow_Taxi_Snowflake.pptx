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Qualité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9B5E8"/>
              </a:solidFill>
              <a:effectLst/>
            </c:spPr>
          </c:dPt>
          <c:dPt>
            <c:idx val="1"/>
            <c:bubble3D val="0"/>
            <c:spPr>
              <a:solidFill>
                <a:srgbClr val="DF6C6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Valides</c:v>
                </c:pt>
                <c:pt idx="1">
                  <c:v>Rejetées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90.68</c:v>
                </c:pt>
                <c:pt idx="1">
                  <c:v>9.32</c:v>
                </c:pt>
              </c:numCache>
            </c:numRef>
          </c:val>
        </c:ser>
        <c:firstSliceAng val="0"/>
        <c:holeSize val="68"/>
      </c:doughnutChart>
      <c:spPr>
        <a:noFill/>
        <a:ln w="12700" cap="flat">
          <a:solidFill>
            <a:srgbClr val="F7FBFD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NYC Yellow Taxi • Snowflake / dbt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3A"/>
          </a:solidFill>
          <a:ln w="12700">
            <a:solidFill>
              <a:srgbClr val="06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56032"/>
            <a:ext cx="3246120" cy="3246120"/>
          </a:xfrm>
          <a:prstGeom prst="ellipse">
            <a:avLst/>
          </a:prstGeom>
          <a:solidFill>
            <a:srgbClr val="062B3A">
              <a:alpha val="0"/>
            </a:srgbClr>
          </a:solidFill>
          <a:ln w="30480">
            <a:solidFill>
              <a:srgbClr val="29B5E8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1234440"/>
            <a:ext cx="1316736" cy="0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0656" y="664277"/>
            <a:ext cx="658368" cy="1140327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9024" y="664277"/>
            <a:ext cx="-658368" cy="1140327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99548" y="1184148"/>
            <a:ext cx="100584" cy="100584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67060" y="1193292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37876" y="1763455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79508" y="1763455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50324" y="1193292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9508" y="623129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37876" y="623129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640080"/>
            <a:ext cx="1965960" cy="365760"/>
          </a:xfrm>
          <a:prstGeom prst="roundRect">
            <a:avLst>
              <a:gd name="adj" fmla="val 37500"/>
            </a:avLst>
          </a:prstGeom>
          <a:solidFill>
            <a:srgbClr val="123F50"/>
          </a:solidFill>
          <a:ln w="12700">
            <a:solidFill>
              <a:srgbClr val="123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74980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0" kern="0" dirty="0">
                <a:solidFill>
                  <a:srgbClr val="68D5F5"/>
                </a:solidFill>
              </a:rPr>
              <a:t>PROJET DATA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16002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NYC Yellow Taxi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5800" y="23957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EAF8"/>
                </a:solidFill>
              </a:rPr>
              <a:t>Snowflake • dbt • S3 • GitHub Actions • Streamlit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" y="29992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7FC"/>
                </a:solidFill>
              </a:rPr>
              <a:t>Construire une chaîne de données complète, sécurisée, testée et optimisée sur l’année 2025.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" y="3858768"/>
            <a:ext cx="1828800" cy="0"/>
          </a:xfrm>
          <a:prstGeom prst="line">
            <a:avLst/>
          </a:prstGeom>
          <a:noFill/>
          <a:ln w="50800">
            <a:solidFill>
              <a:srgbClr val="29B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Touhami BOUGHRARA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" y="4443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DCEA"/>
                </a:solidFill>
              </a:rPr>
              <a:t>Simplon — Projet Snowflake / dbt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" y="6016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DE5"/>
                </a:solidFill>
              </a:rPr>
              <a:t>Soutenance • 10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&amp; périmètre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12 mois de données NYC Taxi en données fiables et directement exploitables.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417320"/>
            <a:ext cx="34564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  <a:effectLst>
            <a:outerShdw sx="100000" sy="100000" kx="0" ky="0" algn="bl" rotWithShape="0" blurRad="12700" dist="50800" dir="2700000">
              <a:srgbClr val="B9CED7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158191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180136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2B3A"/>
                </a:solidFill>
              </a:rPr>
              <a:t>Ingérer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" y="2258568"/>
            <a:ext cx="30540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12 mois de fichiers Parquet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+ référentiel des zones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70832" y="1417320"/>
            <a:ext cx="34564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  <a:effectLst>
            <a:outerShdw sx="100000" sy="100000" kx="0" ky="0" algn="bl" rotWithShape="0" blurRad="12700" dist="50800" dir="2700000">
              <a:srgbClr val="B9CED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58191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80136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2B3A"/>
                </a:solidFill>
              </a:rPr>
              <a:t>Fiabiliser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2258568"/>
            <a:ext cx="30540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Contrôler les anomalies, quantifier les rejets et enrichir les trajets.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01584" y="1417320"/>
            <a:ext cx="34564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  <a:effectLst>
            <a:outerShdw sx="100000" sy="100000" kx="0" ky="0" algn="bl" rotWithShape="0" blurRad="12700" dist="50800" dir="2700000">
              <a:srgbClr val="B9CED7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02752" y="158191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02752" y="180136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2B3A"/>
                </a:solidFill>
              </a:rPr>
              <a:t>Restituer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02752" y="2258568"/>
            <a:ext cx="3054096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Produire des KPIs, automatiser les tests et alimenter un dashboard.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5074920"/>
            <a:ext cx="31089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5074920"/>
            <a:ext cx="64008" cy="98755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52303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48,7 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98448" y="567842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lignes RAW analysées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53712" y="5074920"/>
            <a:ext cx="31089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5074920"/>
            <a:ext cx="64008" cy="987552"/>
          </a:xfrm>
          <a:prstGeom prst="rect">
            <a:avLst/>
          </a:prstGeom>
          <a:solidFill>
            <a:srgbClr val="20A875"/>
          </a:solidFill>
          <a:ln w="12700">
            <a:solidFill>
              <a:srgbClr val="20A8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52303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44,18 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54880" y="567842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trajets valides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10144" y="5074920"/>
            <a:ext cx="31089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0144" y="5074920"/>
            <a:ext cx="64008" cy="987552"/>
          </a:xfrm>
          <a:prstGeom prst="rect">
            <a:avLst/>
          </a:prstGeom>
          <a:solidFill>
            <a:srgbClr val="0D3B4C"/>
          </a:solidFill>
          <a:ln w="12700">
            <a:solidFill>
              <a:srgbClr val="0D3B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11312" y="52303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2025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211312" y="567842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année analytique complète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end-to-end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chaîne claire : stockage objet → traitement Snowflake → industrialisation → restitution.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29968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E8F7FC"/>
          </a:solidFill>
          <a:ln w="1524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19456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3A"/>
                </a:solidFill>
              </a:rPr>
              <a:t>Sources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" y="253288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12 Parquet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+ zones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65960" y="2523744"/>
            <a:ext cx="64008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084832" y="2029968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E8F7FC"/>
          </a:solidFill>
          <a:ln w="1524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19456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3A"/>
                </a:solidFill>
              </a:rPr>
              <a:t>Amazon S3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57984" y="253288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Bucket privé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47872" y="2523744"/>
            <a:ext cx="64008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66744" y="2029968"/>
            <a:ext cx="1554480" cy="987552"/>
          </a:xfrm>
          <a:prstGeom prst="roundRect">
            <a:avLst>
              <a:gd name="adj" fmla="val 5556"/>
            </a:avLst>
          </a:prstGeom>
          <a:solidFill>
            <a:srgbClr val="DDF4FC"/>
          </a:solidFill>
          <a:ln w="15240">
            <a:solidFill>
              <a:srgbClr val="29B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21945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3A"/>
                </a:solidFill>
              </a:rPr>
              <a:t>External Stage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39896" y="253288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IAM +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Integration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66944" y="2523744"/>
            <a:ext cx="100584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22392" y="2029968"/>
            <a:ext cx="1325880" cy="987552"/>
          </a:xfrm>
          <a:prstGeom prst="roundRect">
            <a:avLst>
              <a:gd name="adj" fmla="val 5556"/>
            </a:avLst>
          </a:prstGeom>
          <a:solidFill>
            <a:srgbClr val="DDF4FC"/>
          </a:solidFill>
          <a:ln w="15240">
            <a:solidFill>
              <a:srgbClr val="29B5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219456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3A"/>
                </a:solidFill>
              </a:rPr>
              <a:t>RAW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95544" y="2532888"/>
            <a:ext cx="1179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Données brutes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93992" y="2523744"/>
            <a:ext cx="8229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31152" y="2029968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CFF0FB"/>
          </a:solidFill>
          <a:ln w="15240">
            <a:solidFill>
              <a:srgbClr val="29B5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4304" y="219456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3A"/>
                </a:solidFill>
              </a:rPr>
              <a:t>STAGING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04304" y="253288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Nettoyage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enrichissements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94192" y="2523744"/>
            <a:ext cx="100584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49640" y="2029968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CFF0FB"/>
          </a:solidFill>
          <a:ln w="15240">
            <a:solidFill>
              <a:srgbClr val="29B5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22792" y="219456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3A"/>
                </a:solidFill>
              </a:rPr>
              <a:t>FINAL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22792" y="253288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Agrégations KPI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012680" y="2523744"/>
            <a:ext cx="12801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195560" y="2029968"/>
            <a:ext cx="1417320" cy="987552"/>
          </a:xfrm>
          <a:prstGeom prst="roundRect">
            <a:avLst>
              <a:gd name="adj" fmla="val 5556"/>
            </a:avLst>
          </a:prstGeom>
          <a:solidFill>
            <a:srgbClr val="C1ECFA"/>
          </a:solidFill>
          <a:ln w="15240">
            <a:solidFill>
              <a:srgbClr val="29B5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68712" y="219456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3A"/>
                </a:solidFill>
              </a:rPr>
              <a:t>Usages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268712" y="253288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dbt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323F"/>
                </a:solidFill>
              </a:rPr>
              <a:t>Streamlit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908792" y="3017520"/>
            <a:ext cx="0" cy="640080"/>
          </a:xfrm>
          <a:prstGeom prst="line">
            <a:avLst/>
          </a:prstGeom>
          <a:noFill/>
          <a:ln w="19050">
            <a:solidFill>
              <a:srgbClr val="29B5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55480" y="3657600"/>
            <a:ext cx="2697480" cy="0"/>
          </a:xfrm>
          <a:prstGeom prst="line">
            <a:avLst/>
          </a:prstGeom>
          <a:noFill/>
          <a:ln w="19050">
            <a:solidFill>
              <a:srgbClr val="29B5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56448" y="3886200"/>
            <a:ext cx="221284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57616" y="4050792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TRANSFORMER / TESTER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57616" y="427024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B3A"/>
                </a:solidFill>
              </a:rPr>
              <a:t>dbt Core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57616" y="4727448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323F"/>
                </a:solidFill>
              </a:rPr>
              <a:t>staging → intermediate → marts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058400" y="3886200"/>
            <a:ext cx="15727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59568" y="40507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RESTITUER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259568" y="427024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B3A"/>
                </a:solidFill>
              </a:rPr>
              <a:t>Streamlit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0259568" y="4727448"/>
            <a:ext cx="11704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323F"/>
                </a:solidFill>
              </a:rPr>
              <a:t>KPIs &amp; analyses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86384" y="5504688"/>
            <a:ext cx="2377440" cy="310896"/>
          </a:xfrm>
          <a:prstGeom prst="roundRect">
            <a:avLst>
              <a:gd name="adj" fmla="val 38235"/>
            </a:avLst>
          </a:prstGeom>
          <a:solidFill>
            <a:srgbClr val="EAF8FD"/>
          </a:solidFill>
          <a:ln w="10160">
            <a:solidFill>
              <a:srgbClr val="29B5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556869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B3A"/>
                </a:solidFill>
              </a:rPr>
              <a:t>Stockage découplé du calcul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93008" y="5504688"/>
            <a:ext cx="2286000" cy="310896"/>
          </a:xfrm>
          <a:prstGeom prst="roundRect">
            <a:avLst>
              <a:gd name="adj" fmla="val 38235"/>
            </a:avLst>
          </a:prstGeom>
          <a:solidFill>
            <a:srgbClr val="EAF8FD"/>
          </a:solidFill>
          <a:ln w="10160">
            <a:solidFill>
              <a:srgbClr val="29B5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556869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B3A"/>
                </a:solidFill>
              </a:rPr>
              <a:t>RAW conservée telle quelle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08192" y="5504688"/>
            <a:ext cx="2240280" cy="310896"/>
          </a:xfrm>
          <a:prstGeom prst="roundRect">
            <a:avLst>
              <a:gd name="adj" fmla="val 38235"/>
            </a:avLst>
          </a:prstGeom>
          <a:solidFill>
            <a:srgbClr val="EAF8FD"/>
          </a:solidFill>
          <a:ln w="10160">
            <a:solidFill>
              <a:srgbClr val="29B5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81344" y="556869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B3A"/>
                </a:solidFill>
              </a:rPr>
              <a:t>Agrégations pour le coût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668512" y="5504688"/>
            <a:ext cx="2423160" cy="310896"/>
          </a:xfrm>
          <a:prstGeom prst="roundRect">
            <a:avLst>
              <a:gd name="adj" fmla="val 38235"/>
            </a:avLst>
          </a:prstGeom>
          <a:solidFill>
            <a:srgbClr val="EAF8FD"/>
          </a:solidFill>
          <a:ln w="10160">
            <a:solidFill>
              <a:srgbClr val="29B5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41664" y="556869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B3A"/>
                </a:solidFill>
              </a:rPr>
              <a:t>CI automatisée et sécurisée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Qualité des données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règles sont explicites, mesurées et documentées.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640080" y="1417320"/>
          <a:ext cx="30632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1316736" y="235915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2B3A"/>
                </a:solidFill>
              </a:rPr>
              <a:t>90,68 %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316736" y="2761488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A73"/>
                </a:solidFill>
              </a:rPr>
              <a:t>trajets valides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4645152"/>
            <a:ext cx="26974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645152"/>
            <a:ext cx="64008" cy="932688"/>
          </a:xfrm>
          <a:prstGeom prst="rect">
            <a:avLst/>
          </a:prstGeom>
          <a:solidFill>
            <a:srgbClr val="DF6C6C"/>
          </a:solidFill>
          <a:ln w="12700">
            <a:solidFill>
              <a:srgbClr val="DF6C6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480060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4 541 544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24128" y="524865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lignes rejetées — 9,32 %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977640" y="1399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2B3A"/>
                </a:solidFill>
              </a:rPr>
              <a:t>Principaux motifs de rejet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977640" y="188366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fare_amount &lt; 0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6080760" y="1901952"/>
            <a:ext cx="3337560" cy="164592"/>
          </a:xfrm>
          <a:prstGeom prst="roundRect">
            <a:avLst>
              <a:gd name="adj" fmla="val 33333"/>
            </a:avLst>
          </a:prstGeom>
          <a:solidFill>
            <a:srgbClr val="E2F1F6"/>
          </a:solidFill>
          <a:ln w="12700">
            <a:solidFill>
              <a:srgbClr val="E2F1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80760" y="1901952"/>
            <a:ext cx="3337560" cy="164592"/>
          </a:xfrm>
          <a:prstGeom prst="roundRect">
            <a:avLst>
              <a:gd name="adj" fmla="val 33333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28048" y="18562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2 848 621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977640" y="251460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trip_distance = 0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6080760" y="2532888"/>
            <a:ext cx="3337560" cy="164592"/>
          </a:xfrm>
          <a:prstGeom prst="roundRect">
            <a:avLst>
              <a:gd name="adj" fmla="val 33333"/>
            </a:avLst>
          </a:prstGeom>
          <a:solidFill>
            <a:srgbClr val="E2F1F6"/>
          </a:solidFill>
          <a:ln w="12700">
            <a:solidFill>
              <a:srgbClr val="E2F1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80760" y="2532888"/>
            <a:ext cx="1643763" cy="164592"/>
          </a:xfrm>
          <a:prstGeom prst="roundRect">
            <a:avLst>
              <a:gd name="adj" fmla="val 33333"/>
            </a:avLst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28048" y="2487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1 402 958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977640" y="3145536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total_amount &lt; 0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080760" y="3163824"/>
            <a:ext cx="3337560" cy="164592"/>
          </a:xfrm>
          <a:prstGeom prst="roundRect">
            <a:avLst>
              <a:gd name="adj" fmla="val 33333"/>
            </a:avLst>
          </a:prstGeom>
          <a:solidFill>
            <a:srgbClr val="E2F1F6"/>
          </a:solidFill>
          <a:ln w="12700">
            <a:solidFill>
              <a:srgbClr val="E2F1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80760" y="3163824"/>
            <a:ext cx="1140852" cy="164592"/>
          </a:xfrm>
          <a:prstGeom prst="roundRect">
            <a:avLst>
              <a:gd name="adj" fmla="val 33333"/>
            </a:avLst>
          </a:prstGeom>
          <a:solidFill>
            <a:srgbClr val="63C8E8"/>
          </a:solidFill>
          <a:ln w="12700">
            <a:solidFill>
              <a:srgbClr val="63C8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528048" y="311810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973 722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977640" y="377647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dates incohérentes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6080760" y="3794760"/>
            <a:ext cx="3337560" cy="164592"/>
          </a:xfrm>
          <a:prstGeom prst="roundRect">
            <a:avLst>
              <a:gd name="adj" fmla="val 33333"/>
            </a:avLst>
          </a:prstGeom>
          <a:solidFill>
            <a:srgbClr val="E2F1F6"/>
          </a:solidFill>
          <a:ln w="12700">
            <a:solidFill>
              <a:srgbClr val="E2F1F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80760" y="3794760"/>
            <a:ext cx="640072" cy="164592"/>
          </a:xfrm>
          <a:prstGeom prst="roundRect">
            <a:avLst>
              <a:gd name="adj" fmla="val 33333"/>
            </a:avLst>
          </a:prstGeom>
          <a:solidFill>
            <a:srgbClr val="82D7EC"/>
          </a:solidFill>
          <a:ln w="12700">
            <a:solidFill>
              <a:srgbClr val="82D7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28048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546 304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977640" y="440740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distance &gt; 1000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6080760" y="4425696"/>
            <a:ext cx="3337560" cy="164592"/>
          </a:xfrm>
          <a:prstGeom prst="roundRect">
            <a:avLst>
              <a:gd name="adj" fmla="val 33333"/>
            </a:avLst>
          </a:prstGeom>
          <a:solidFill>
            <a:srgbClr val="E2F1F6"/>
          </a:solidFill>
          <a:ln w="12700">
            <a:solidFill>
              <a:srgbClr val="E2F1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80760" y="4425696"/>
            <a:ext cx="45720" cy="164592"/>
          </a:xfrm>
          <a:prstGeom prst="roundRect">
            <a:avLst>
              <a:gd name="adj" fmla="val 120000"/>
            </a:avLst>
          </a:prstGeom>
          <a:solidFill>
            <a:srgbClr val="A7E5F4"/>
          </a:solidFill>
          <a:ln w="12700">
            <a:solidFill>
              <a:srgbClr val="A7E5F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28048" y="43799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2 037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3977640" y="517550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5D6A73"/>
                </a:solidFill>
              </a:rPr>
              <a:t>Les motifs peuvent se chevaucher : on ne les additionne pas.</a:t>
            </a:r>
            <a:endParaRPr lang="en-US" sz="930" dirty="0"/>
          </a:p>
        </p:txBody>
      </p:sp>
      <p:sp>
        <p:nvSpPr>
          <p:cNvPr id="43" name="Shape 40"/>
          <p:cNvSpPr/>
          <p:nvPr/>
        </p:nvSpPr>
        <p:spPr>
          <a:xfrm>
            <a:off x="9125712" y="1399032"/>
            <a:ext cx="2414016" cy="3520440"/>
          </a:xfrm>
          <a:prstGeom prst="roundRect">
            <a:avLst>
              <a:gd name="adj" fmla="val 3030"/>
            </a:avLst>
          </a:prstGeom>
          <a:solidFill>
            <a:srgbClr val="EAF8FD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326880" y="1563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PROFILAGE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932688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NULLs documentés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326880" y="2240280"/>
            <a:ext cx="201168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14323F"/>
                </a:solidFill>
              </a:rPr>
              <a:t>23,83 % de valeurs manquantes sur plusieurs champs secondaires (passenger_count, RatecodeID…).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4323F"/>
                </a:solidFill>
              </a:rPr>
              <a:t>0 NULL sur les champs critiques : distance, montants, zones de départ/arrivée.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Snowflake : RAW → STAGING → FINAL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les responsabilités pour garder une chaîne lisible, rejouable et performante.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353312"/>
            <a:ext cx="2880360" cy="4480560"/>
          </a:xfrm>
          <a:prstGeom prst="roundRect">
            <a:avLst>
              <a:gd name="adj" fmla="val 2540"/>
            </a:avLst>
          </a:prstGeom>
          <a:solidFill>
            <a:srgbClr val="EAF8FD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2B3A"/>
                </a:solidFill>
              </a:rPr>
              <a:t>RAW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05256" y="2240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</a:rPr>
              <a:t>48 722 579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5256" y="26334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lignes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3544" y="3172968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Chargement depuis S3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923544" y="3694176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Données sources conservées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23544" y="4215384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Parquet + référentiel zones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593592" y="3611880"/>
            <a:ext cx="49377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60520" y="1353312"/>
            <a:ext cx="2880360" cy="4480560"/>
          </a:xfrm>
          <a:prstGeom prst="roundRect">
            <a:avLst>
              <a:gd name="adj" fmla="val 2540"/>
            </a:avLst>
          </a:prstGeom>
          <a:solidFill>
            <a:srgbClr val="D7F2FB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9976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2B3A"/>
                </a:solidFill>
              </a:rPr>
              <a:t>STAGING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4379976" y="2240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</a:rPr>
              <a:t>44 181 035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379976" y="26334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trajets valides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98264" y="3172968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Filtres qualité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398264" y="3694176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Typage des timestamps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398264" y="4215384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Durée, vitesse, tip rate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4398264" y="4736592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9432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Distance / période / jour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068312" y="3611880"/>
            <a:ext cx="49377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635240" y="1353312"/>
            <a:ext cx="2880360" cy="4480560"/>
          </a:xfrm>
          <a:prstGeom prst="roundRect">
            <a:avLst>
              <a:gd name="adj" fmla="val 2540"/>
            </a:avLst>
          </a:prstGeom>
          <a:solidFill>
            <a:srgbClr val="C6EDF9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54696" y="16276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2B3A"/>
                </a:solidFill>
              </a:rPr>
              <a:t>FINAL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7854696" y="2240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</a:rPr>
              <a:t>3 marts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854696" y="26334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orientés analyse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72984" y="3172968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74152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DAILY_KPIS — 365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7872984" y="3694176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74152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ZONE_KPIS — 262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872984" y="4215384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74152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HOURLY_PATTERNS — 48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7872984" y="4736592"/>
            <a:ext cx="91440" cy="914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74152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323F"/>
                </a:solidFill>
              </a:rPr>
              <a:t>KPI_AGGREGATES — 675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dbt Core &amp; GitHub Actions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Structurer la couche analytique, tester les données et automatiser la validation.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Projet dbt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1874520"/>
            <a:ext cx="19659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198424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5E8"/>
                </a:solidFill>
              </a:rPr>
              <a:t>Sources Snowflake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" y="222199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4323F"/>
                </a:solidFill>
              </a:rPr>
              <a:t>STAGING.YELLOW_TRIPS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14323F"/>
                </a:solidFill>
              </a:rPr>
              <a:t>FINAL.KPI_AGGREGATES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2990088" y="187452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9816" y="1984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5E8"/>
                </a:solidFill>
              </a:rPr>
              <a:t>staging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99816" y="222199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4323F"/>
                </a:solidFill>
              </a:rPr>
              <a:t>stg_yellow_trips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184648" y="187452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1984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5E8"/>
                </a:solidFill>
              </a:rPr>
              <a:t>intermediate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94376" y="222199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4323F"/>
                </a:solidFill>
              </a:rPr>
              <a:t>int_kpi_aggregates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379208" y="1481328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15910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5E8"/>
                </a:solidFill>
              </a:rPr>
              <a:t>marts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88936" y="18288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4323F"/>
                </a:solidFill>
              </a:rPr>
              <a:t>mart_daily_kpis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7379208" y="2514600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88936" y="262432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5E8"/>
                </a:solidFill>
              </a:rPr>
              <a:t>marts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88936" y="286207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4323F"/>
                </a:solidFill>
              </a:rPr>
              <a:t>mart_zone_kpis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379208" y="3547872"/>
            <a:ext cx="1920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3970">
            <a:solidFill>
              <a:srgbClr val="29B5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88936" y="36576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5E8"/>
                </a:solidFill>
              </a:rPr>
              <a:t>marts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88936" y="389534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4323F"/>
                </a:solidFill>
              </a:rPr>
              <a:t>mart_hourly_patterns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651760" y="2231136"/>
            <a:ext cx="26517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37176" y="2231136"/>
            <a:ext cx="274320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013448" y="2231136"/>
            <a:ext cx="26517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78624" y="1837944"/>
            <a:ext cx="0" cy="2075688"/>
          </a:xfrm>
          <a:prstGeom prst="line">
            <a:avLst/>
          </a:prstGeom>
          <a:noFill/>
          <a:ln w="20320">
            <a:solidFill>
              <a:srgbClr val="29B5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78624" y="1837944"/>
            <a:ext cx="3657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278624" y="2871216"/>
            <a:ext cx="3657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278624" y="3904488"/>
            <a:ext cx="36576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92640" y="1325880"/>
            <a:ext cx="1847088" cy="2999232"/>
          </a:xfrm>
          <a:prstGeom prst="roundRect">
            <a:avLst>
              <a:gd name="adj" fmla="val 3960"/>
            </a:avLst>
          </a:prstGeom>
          <a:solidFill>
            <a:srgbClr val="EAF8FD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93808" y="14904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CI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893808" y="170992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GitHub Actions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893808" y="2167128"/>
            <a:ext cx="14447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14323F"/>
                </a:solidFill>
              </a:rPr>
              <a:t>• dbt debug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4323F"/>
                </a:solidFill>
              </a:rPr>
              <a:t>• dbt build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4323F"/>
                </a:solidFill>
              </a:rPr>
              <a:t>• exécution manuelle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4323F"/>
                </a:solidFill>
              </a:rPr>
              <a:t>• planification mensuelle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4323F"/>
                </a:solidFill>
              </a:rPr>
              <a:t>• secrets GitHub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685800" y="5074920"/>
            <a:ext cx="2240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5074920"/>
            <a:ext cx="64008" cy="932688"/>
          </a:xfrm>
          <a:prstGeom prst="rect">
            <a:avLst/>
          </a:prstGeom>
          <a:solidFill>
            <a:srgbClr val="20A875"/>
          </a:solidFill>
          <a:ln w="12700">
            <a:solidFill>
              <a:srgbClr val="20A8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6968" y="523036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PASS = 16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86968" y="56784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5 modèles + 11 tests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182112" y="5074920"/>
            <a:ext cx="2240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5074920"/>
            <a:ext cx="64008" cy="932688"/>
          </a:xfrm>
          <a:prstGeom prst="rect">
            <a:avLst/>
          </a:prstGeom>
          <a:solidFill>
            <a:srgbClr val="20A875"/>
          </a:solidFill>
          <a:ln w="12700">
            <a:solidFill>
              <a:srgbClr val="20A8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523036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0 erreur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3383280" y="56784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build local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78424" y="5074920"/>
            <a:ext cx="2240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78424" y="5074920"/>
            <a:ext cx="64008" cy="93268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9592" y="523036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DBT_CI_ROLE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879592" y="56784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moindre privilège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174736" y="5074920"/>
            <a:ext cx="26974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74736" y="5074920"/>
            <a:ext cx="64008" cy="932688"/>
          </a:xfrm>
          <a:prstGeom prst="rect">
            <a:avLst/>
          </a:prstGeom>
          <a:solidFill>
            <a:srgbClr val="20A875"/>
          </a:solidFill>
          <a:ln w="12700">
            <a:solidFill>
              <a:srgbClr val="20A8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75904" y="523036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Workflow ✅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8375904" y="567842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relancé avec succès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Streamlit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Restituer les KPIs depuis les tables FINAL sans rescanner les 44 millions de trajets.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417320"/>
            <a:ext cx="2606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417320"/>
            <a:ext cx="64008" cy="102412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57276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44,18 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" y="20208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trajets valides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56432" y="1417320"/>
            <a:ext cx="2606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56432" y="1417320"/>
            <a:ext cx="64008" cy="102412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57276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≈ 1,28 Md $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0" y="20208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chiffre d’affaires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72784" y="1417320"/>
            <a:ext cx="2606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1417320"/>
            <a:ext cx="64008" cy="102412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157276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≈ 28,88 $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73952" y="20208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revenu moyen / trajet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89136" y="1417320"/>
            <a:ext cx="242316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89136" y="1417320"/>
            <a:ext cx="64008" cy="1024128"/>
          </a:xfrm>
          <a:prstGeom prst="rect">
            <a:avLst/>
          </a:prstGeom>
          <a:solidFill>
            <a:srgbClr val="DF6C6C"/>
          </a:solidFill>
          <a:ln w="12700">
            <a:solidFill>
              <a:srgbClr val="DF6C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0304" y="157276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B3A"/>
                </a:solidFill>
              </a:rPr>
              <a:t>9,32 %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90304" y="202082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73"/>
                </a:solidFill>
              </a:rPr>
              <a:t>taux de rejet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" y="2852928"/>
            <a:ext cx="69037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Ce que montre le dashboard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1832" y="365760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3000" y="36027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323F"/>
                </a:solidFill>
              </a:rPr>
              <a:t>Évolution quotidienne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2761488" y="36027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3"/>
                </a:solidFill>
              </a:rPr>
              <a:t>volume de trajets et revenu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1832" y="4041648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39867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323F"/>
                </a:solidFill>
              </a:rPr>
              <a:t>Analyse géographique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2761488" y="39867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3"/>
                </a:solidFill>
              </a:rPr>
              <a:t>top zones de prise en charge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41832" y="442569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4370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323F"/>
                </a:solidFill>
              </a:rPr>
              <a:t>Opérationnel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2761488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3"/>
                </a:solidFill>
              </a:rPr>
              <a:t>heure de pointe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1832" y="480974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47548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323F"/>
                </a:solidFill>
              </a:rPr>
              <a:t>Comportements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2761488" y="47548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3"/>
                </a:solidFill>
              </a:rPr>
              <a:t>semaine vs week-end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41832" y="5193792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5138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4323F"/>
                </a:solidFill>
              </a:rPr>
              <a:t>Qualité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2761488" y="51389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3"/>
                </a:solidFill>
              </a:rPr>
              <a:t>lignes analysées, rejetées, taux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82128" y="2852928"/>
            <a:ext cx="3630168" cy="2697480"/>
          </a:xfrm>
          <a:prstGeom prst="roundRect">
            <a:avLst>
              <a:gd name="adj" fmla="val 2712"/>
            </a:avLst>
          </a:prstGeom>
          <a:solidFill>
            <a:srgbClr val="062B3A"/>
          </a:solidFill>
          <a:ln w="12700">
            <a:solidFill>
              <a:srgbClr val="062B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53728" y="3703320"/>
            <a:ext cx="877824" cy="0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73184" y="3323211"/>
            <a:ext cx="438912" cy="760218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12096" y="3323211"/>
            <a:ext cx="-438912" cy="760218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42348" y="3653028"/>
            <a:ext cx="100584" cy="100584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90404" y="3662172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70948" y="4042281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32036" y="4042281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12580" y="3662172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32036" y="3282063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70948" y="3282063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57032" y="4251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Principe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8275320" y="459943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D6F3FB"/>
                </a:solidFill>
              </a:rPr>
              <a:t>Le dashboard interroge surtout des tables agrégées FINAL : moins de calcul, moins de coût, meilleure réactivité.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techniques : sécurité, coût, reproductibilité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décisions simples mais proches des bonnes pratiques de production.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138988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  <a:effectLst>
            <a:outerShdw sx="100000" sy="100000" kx="0" ky="0" algn="bl" rotWithShape="0" blurRad="12700" dist="50800" dir="2700000">
              <a:srgbClr val="B9CED7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" y="155448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SÉCURITÉ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" y="17739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S3 privé + IAM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" y="2231136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323F"/>
                </a:solidFill>
              </a:rPr>
              <a:t>Pas de clé AWS dans le code. Accès Snowflake via Storage Integration.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38728" y="138988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  <a:effectLst>
            <a:outerShdw sx="100000" sy="100000" kx="0" ky="0" algn="bl" rotWithShape="0" blurRad="12700" dist="50800" dir="2700000">
              <a:srgbClr val="B9CED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39896" y="155448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DROITS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39896" y="17739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DBT_CI_ROLE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39896" y="2231136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323F"/>
                </a:solidFill>
              </a:rPr>
              <a:t>La CI n’utilise pas ACCOUNTADMIN : principe du moindre privilège.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19088" y="138988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  <a:effectLst>
            <a:outerShdw sx="100000" sy="100000" kx="0" ky="0" algn="bl" rotWithShape="0" blurRad="12700" dist="50800" dir="2700000">
              <a:srgbClr val="B9CED7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0256" y="155448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COÛTS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17739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XSMALL + autosuspend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0256" y="2231136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323F"/>
                </a:solidFill>
              </a:rPr>
              <a:t>Warehouse XSMALL, arrêt automatique après 60 s, reprise automatique.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99448" y="1389888"/>
            <a:ext cx="2240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  <a:effectLst>
            <a:outerShdw sx="100000" sy="100000" kx="0" ky="0" algn="bl" rotWithShape="0" blurRad="12700" dist="50800" dir="2700000">
              <a:srgbClr val="B9CED7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00616" y="1554480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29B5E8"/>
                </a:solidFill>
              </a:rPr>
              <a:t>PERF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500616" y="177393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FINAL agrégé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00616" y="2231136"/>
            <a:ext cx="18379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323F"/>
                </a:solidFill>
              </a:rPr>
              <a:t>Quelques centaines de lignes pour les usages BI.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B3A"/>
                </a:solidFill>
              </a:rPr>
              <a:t>Reproductibilité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6656" y="4407408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AF8FD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3A"/>
                </a:solidFill>
              </a:rPr>
              <a:t>SQL versionné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" y="4956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D6A73"/>
                </a:solidFill>
              </a:rPr>
              <a:t>8 scripts ordonnés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2944368" y="4407408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54096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3A"/>
                </a:solidFill>
              </a:rPr>
              <a:t>dbt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54096" y="4956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D6A73"/>
                </a:solidFill>
              </a:rPr>
              <a:t>modèles + tests + docs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212080" y="4407408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AF8FD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3A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4956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D6A73"/>
                </a:solidFill>
              </a:rPr>
              <a:t>validation automatisée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479792" y="4407408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3A"/>
                </a:solidFill>
              </a:rPr>
              <a:t>Dashboard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89520" y="4956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D6A73"/>
                </a:solidFill>
              </a:rPr>
              <a:t>code Streamlit versionné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9747504" y="4407408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AF8FD"/>
          </a:solidFill>
          <a:ln w="12700">
            <a:solidFill>
              <a:srgbClr val="CFE5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57232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3A"/>
                </a:solidFill>
              </a:rPr>
              <a:t>Documentation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57232" y="49560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5D6A73"/>
                </a:solidFill>
              </a:rPr>
              <a:t>README + analyse réflexive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Difficultés rencontrées &amp; améliorations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32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projet a évolué par itérations : rendre une première solution fonctionnelle plus robuste.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164824" y="566928"/>
            <a:ext cx="621792" cy="0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0272" y="297684"/>
            <a:ext cx="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31168" y="297684"/>
            <a:ext cx="-310896" cy="538488"/>
          </a:xfrm>
          <a:prstGeom prst="line">
            <a:avLst/>
          </a:prstGeom>
          <a:noFill/>
          <a:ln w="22860">
            <a:solidFill>
              <a:srgbClr val="29B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25428" y="516636"/>
            <a:ext cx="100584" cy="10058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45468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90020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9124" y="795024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23676" y="525780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9124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90020" y="256536"/>
            <a:ext cx="82296" cy="82296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2B3A"/>
                </a:solidFill>
              </a:rPr>
              <a:t>Ingestion initiale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1444752"/>
            <a:ext cx="2971800" cy="658368"/>
          </a:xfrm>
          <a:prstGeom prst="roundRect">
            <a:avLst>
              <a:gd name="adj" fmla="val 5556"/>
            </a:avLst>
          </a:prstGeom>
          <a:solidFill>
            <a:srgbClr val="F6F0F0"/>
          </a:solidFill>
          <a:ln w="12700">
            <a:solidFill>
              <a:srgbClr val="E8CE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6459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7B4B4B"/>
                </a:solidFill>
              </a:rPr>
              <a:t>Stage interne Snowflake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925312" y="1773936"/>
            <a:ext cx="429768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37960" y="1444752"/>
            <a:ext cx="4251960" cy="658368"/>
          </a:xfrm>
          <a:prstGeom prst="roundRect">
            <a:avLst>
              <a:gd name="adj" fmla="val 5556"/>
            </a:avLst>
          </a:prstGeom>
          <a:solidFill>
            <a:srgbClr val="EAF8FD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6459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62B3A"/>
                </a:solidFill>
              </a:rPr>
              <a:t>S3 + External Stage + IAM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58368" y="26151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2B3A"/>
                </a:solidFill>
              </a:rPr>
              <a:t>Rôle CI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88920" y="2414016"/>
            <a:ext cx="2971800" cy="658368"/>
          </a:xfrm>
          <a:prstGeom prst="roundRect">
            <a:avLst>
              <a:gd name="adj" fmla="val 5556"/>
            </a:avLst>
          </a:prstGeom>
          <a:solidFill>
            <a:srgbClr val="F6F0F0"/>
          </a:solidFill>
          <a:ln w="12700">
            <a:solidFill>
              <a:srgbClr val="E8CE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61518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7B4B4B"/>
                </a:solidFill>
              </a:rPr>
              <a:t>ACCOUNTADMIN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925312" y="2743200"/>
            <a:ext cx="429768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37960" y="2414016"/>
            <a:ext cx="4251960" cy="658368"/>
          </a:xfrm>
          <a:prstGeom prst="roundRect">
            <a:avLst>
              <a:gd name="adj" fmla="val 5556"/>
            </a:avLst>
          </a:prstGeom>
          <a:solidFill>
            <a:srgbClr val="EAF8FD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6151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62B3A"/>
                </a:solidFill>
              </a:rPr>
              <a:t>DBT_CI_ROLE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658368" y="3584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2B3A"/>
                </a:solidFill>
              </a:rPr>
              <a:t>Performance BI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88920" y="3383280"/>
            <a:ext cx="2971800" cy="658368"/>
          </a:xfrm>
          <a:prstGeom prst="roundRect">
            <a:avLst>
              <a:gd name="adj" fmla="val 5556"/>
            </a:avLst>
          </a:prstGeom>
          <a:solidFill>
            <a:srgbClr val="F6F0F0"/>
          </a:solidFill>
          <a:ln w="12700">
            <a:solidFill>
              <a:srgbClr val="E8CE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58444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7B4B4B"/>
                </a:solidFill>
              </a:rPr>
              <a:t>Scanner la STAGING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925312" y="3712464"/>
            <a:ext cx="429768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537960" y="3383280"/>
            <a:ext cx="4251960" cy="658368"/>
          </a:xfrm>
          <a:prstGeom prst="roundRect">
            <a:avLst>
              <a:gd name="adj" fmla="val 5556"/>
            </a:avLst>
          </a:prstGeom>
          <a:solidFill>
            <a:srgbClr val="EAF8FD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5844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62B3A"/>
                </a:solidFill>
              </a:rPr>
              <a:t>Tables FINAL agrégées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58368" y="4553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2B3A"/>
                </a:solidFill>
              </a:rPr>
              <a:t>Référentiel zones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88920" y="4352544"/>
            <a:ext cx="2971800" cy="658368"/>
          </a:xfrm>
          <a:prstGeom prst="roundRect">
            <a:avLst>
              <a:gd name="adj" fmla="val 5556"/>
            </a:avLst>
          </a:prstGeom>
          <a:solidFill>
            <a:srgbClr val="F6F0F0"/>
          </a:solidFill>
          <a:ln w="12700">
            <a:solidFill>
              <a:srgbClr val="E8CE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45537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7B4B4B"/>
                </a:solidFill>
              </a:rPr>
              <a:t>Problème de nommage LocationID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5925312" y="4681728"/>
            <a:ext cx="429768" cy="0"/>
          </a:xfrm>
          <a:prstGeom prst="line">
            <a:avLst/>
          </a:prstGeom>
          <a:noFill/>
          <a:ln w="25400">
            <a:solidFill>
              <a:srgbClr val="29B5E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37960" y="4352544"/>
            <a:ext cx="4251960" cy="658368"/>
          </a:xfrm>
          <a:prstGeom prst="roundRect">
            <a:avLst>
              <a:gd name="adj" fmla="val 5556"/>
            </a:avLst>
          </a:prstGeom>
          <a:solidFill>
            <a:srgbClr val="EAF8FD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45537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62B3A"/>
                </a:solidFill>
              </a:rPr>
              <a:t>Schéma et jointure corrigés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658368" y="5532120"/>
            <a:ext cx="10927080" cy="676656"/>
          </a:xfrm>
          <a:prstGeom prst="roundRect">
            <a:avLst>
              <a:gd name="adj" fmla="val 8108"/>
            </a:avLst>
          </a:prstGeom>
          <a:solidFill>
            <a:srgbClr val="062B3A"/>
          </a:solidFill>
          <a:ln w="12700">
            <a:solidFill>
              <a:srgbClr val="062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733288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</a:rPr>
              <a:t>Apprentissage clé : un pipeline Data Engineering doit être fiable, sécurisé, testable, documenté et exploitable — pas seulement “fonctionnel”.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D6A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0072" y="1097280"/>
            <a:ext cx="1499616" cy="0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94976" y="447927"/>
            <a:ext cx="749808" cy="1298706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447927"/>
            <a:ext cx="-749808" cy="1298706"/>
          </a:xfrm>
          <a:prstGeom prst="line">
            <a:avLst/>
          </a:prstGeom>
          <a:noFill/>
          <a:ln w="22860">
            <a:solidFill>
              <a:srgbClr val="68D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19588" y="1046988"/>
            <a:ext cx="100584" cy="100584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78540" y="1056132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03636" y="1705485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3828" y="1705485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78924" y="1056132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3828" y="406779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03636" y="406779"/>
            <a:ext cx="82296" cy="82296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7772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Conclusion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49808" y="138988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EAF8"/>
                </a:solidFill>
              </a:rPr>
              <a:t>Une chaîne complète de la donnée brute au dashboard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2331720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123F50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2688336"/>
            <a:ext cx="201168" cy="0"/>
          </a:xfrm>
          <a:prstGeom prst="line">
            <a:avLst/>
          </a:prstGeom>
          <a:noFill/>
          <a:ln w="25400">
            <a:solidFill>
              <a:srgbClr val="68D5F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50008" y="2331720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123F50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External Stage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75888" y="2688336"/>
            <a:ext cx="201168" cy="0"/>
          </a:xfrm>
          <a:prstGeom prst="line">
            <a:avLst/>
          </a:prstGeom>
          <a:noFill/>
          <a:ln w="25400">
            <a:solidFill>
              <a:srgbClr val="68D5F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22776" y="2331720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123F50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48656" y="2688336"/>
            <a:ext cx="201168" cy="0"/>
          </a:xfrm>
          <a:prstGeom prst="line">
            <a:avLst/>
          </a:prstGeom>
          <a:noFill/>
          <a:ln w="25400">
            <a:solidFill>
              <a:srgbClr val="68D5F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95544" y="2331720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123F50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STAGING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21424" y="2688336"/>
            <a:ext cx="201168" cy="0"/>
          </a:xfrm>
          <a:prstGeom prst="line">
            <a:avLst/>
          </a:prstGeom>
          <a:noFill/>
          <a:ln w="25400">
            <a:solidFill>
              <a:srgbClr val="68D5F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68312" y="2331720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123F50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94192" y="2688336"/>
            <a:ext cx="201168" cy="0"/>
          </a:xfrm>
          <a:prstGeom prst="line">
            <a:avLst/>
          </a:prstGeom>
          <a:noFill/>
          <a:ln w="25400">
            <a:solidFill>
              <a:srgbClr val="68D5F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41080" y="2331720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123F50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95944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dbt / CI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966960" y="2688336"/>
            <a:ext cx="201168" cy="0"/>
          </a:xfrm>
          <a:prstGeom prst="line">
            <a:avLst/>
          </a:prstGeom>
          <a:noFill/>
          <a:ln w="25400">
            <a:solidFill>
              <a:srgbClr val="68D5F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213848" y="2331720"/>
            <a:ext cx="1298448" cy="713232"/>
          </a:xfrm>
          <a:prstGeom prst="roundRect">
            <a:avLst>
              <a:gd name="adj" fmla="val 641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68712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Streamlit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8952" y="3886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8D5F5"/>
                </a:solidFill>
              </a:rPr>
              <a:t>Projet validé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95528" y="4498848"/>
            <a:ext cx="91440" cy="91440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44256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7FC"/>
                </a:solidFill>
              </a:rPr>
              <a:t>48,7 M lignes analysées • 44,18 M trajets valides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" y="4937760"/>
            <a:ext cx="91440" cy="91440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86460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7FC"/>
                </a:solidFill>
              </a:rPr>
              <a:t>dbt build : PASS=16 • GitHub Actions : succès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95528" y="5376672"/>
            <a:ext cx="91440" cy="91440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53035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7FC"/>
                </a:solidFill>
              </a:rPr>
              <a:t>Architecture S3 / Snowflake sécurisée et reproductible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95528" y="5815584"/>
            <a:ext cx="91440" cy="91440"/>
          </a:xfrm>
          <a:prstGeom prst="ellipse">
            <a:avLst/>
          </a:prstGeom>
          <a:solidFill>
            <a:srgbClr val="68D5F5"/>
          </a:solidFill>
          <a:ln w="12700">
            <a:solidFill>
              <a:srgbClr val="68D5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57424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7FC"/>
                </a:solidFill>
              </a:rPr>
              <a:t>Dashboard Streamlit alimenté par des tables FINAL optimisées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13648" y="4590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Questions ?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8613648" y="5193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D5F5"/>
                </a:solidFill>
              </a:rPr>
              <a:t>Merci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Simplon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Yellow Taxi — Snowflake / dbt</dc:title>
  <dc:subject>Projet NYC Yellow Taxi - Snowflake / dbt</dc:subject>
  <dc:creator>Touhami BOUGHRARA</dc:creator>
  <cp:lastModifiedBy>Touhami BOUGHRARA</cp:lastModifiedBy>
  <cp:revision>1</cp:revision>
  <dcterms:created xsi:type="dcterms:W3CDTF">2026-10-01T17:27:33Z</dcterms:created>
  <dcterms:modified xsi:type="dcterms:W3CDTF">2026-10-01T17:27:33Z</dcterms:modified>
</cp:coreProperties>
</file>